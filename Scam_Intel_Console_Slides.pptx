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FINAL PROJECT REPORT  ·  防詐情資控制台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>
                <a:solidFill>
                  <a:srgbClr val="E6EDF7"/>
                </a:solidFill>
                <a:latin typeface="PingFang TC"/>
              </a:rPr>
              <a:t>Scam Intel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9FB0C9"/>
                </a:solidFill>
                <a:latin typeface="PingFang TC"/>
              </a:rPr>
              <a:t>整合即時爬蟲 × 知識圖譜 × 規則 + Embedding + LLM 混合分析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9FB0C9"/>
                </a:solidFill>
                <a:latin typeface="PingFang TC"/>
              </a:rPr>
              <a:t>× SSRF 防護網址驗證 × Markdown 對話助手 的全端防詐 Prototype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484632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94560" y="484632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2880360" y="4846320"/>
            <a:ext cx="548640" cy="5486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FB0C9"/>
                </a:solidFill>
                <a:latin typeface="PingFang TC"/>
              </a:rPr>
              <a:t>四人協作 · 平均分工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E9B"/>
                </a:solidFill>
                <a:latin typeface="PingFang TC"/>
              </a:rPr>
              <a:t>Repo: github.com/jason79461385/Crawler_KG_ANTI_FAKE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簡報大綱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55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專案動機與目標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21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為什麼做這個系統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755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系統能力與架構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21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六大子系統 + 完整資料流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技術棧總覽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64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前端 / 後端 / 資料 / 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898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四人實作分工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264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成員 A / B / C / D 詳述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41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核心演算法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07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混合風險評分公式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31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41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驗證與測試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407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型別、API、SSRF、KG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184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Demo 與未來工作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550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現場展示 + Roadmap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074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D3EE"/>
                </a:solidFill>
                <a:latin typeface="PingFang TC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1846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參考資料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550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API / 套件 / 學術文獻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為什麼做這個系統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9FB0C9"/>
                </a:solidFill>
                <a:latin typeface="PingFang TC"/>
              </a:rPr>
              <a:t>詐騙在台灣演化極快:LINE 假投資、假交友、解除分期、165 簡訊、釣魚連結 ……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9FB0C9"/>
                </a:solidFill>
                <a:latin typeface="PingFang TC"/>
              </a:rPr>
              <a:t>一般使用者要在訊息瞬間做出「這是不是詐騙」的判斷,缺乏資料支援與即時佐證。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6EDF7"/>
                </a:solidFill>
                <a:latin typeface="PingFang TC"/>
              </a:rPr>
              <a:t>我們希望這個系統能讓使用者: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PingFang TC"/>
              </a:rPr>
              <a:t>即時看見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33756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EDF7"/>
                </a:solidFill>
                <a:latin typeface="PingFang TC"/>
              </a:rPr>
              <a:t>案例知識圖譜(誰、用什麼平台、騙什麼)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005072"/>
            <a:ext cx="164592" cy="16459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B923C"/>
                </a:solidFill>
                <a:latin typeface="PingFang TC"/>
              </a:rPr>
              <a:t>快速分析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93192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EDF7"/>
                </a:solidFill>
                <a:latin typeface="PingFang TC"/>
              </a:rPr>
              <a:t>輸入可疑訊息 → 混合式風險評分 + LLM 解釋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3484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599432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驗證連結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262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EDF7"/>
                </a:solidFill>
                <a:latin typeface="PingFang TC"/>
              </a:rPr>
              <a:t>可疑網址是否在已知釣魚清單 / 啟發式高風險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5193792"/>
            <a:ext cx="164592" cy="16459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20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PingFang TC"/>
              </a:rPr>
              <a:t>自然互動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12064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EDF7"/>
                </a:solidFill>
                <a:latin typeface="PingFang TC"/>
              </a:rPr>
              <a:t>浮動聊天助手 + Markdown 排版,跨頁可用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2356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78815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715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8BDF8"/>
                </a:solidFill>
                <a:latin typeface="PingFang TC"/>
              </a:rPr>
              <a:t>主動貢獻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150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6EDF7"/>
                </a:solidFill>
                <a:latin typeface="PingFang TC"/>
              </a:rPr>
              <a:t>回報遭遇 → 長期累積本地差異化資料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02 ·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系統能力一覽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22D3EE"/>
                </a:solidFill>
                <a:latin typeface="PingFang T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資料來源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966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966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4ADE80"/>
                </a:solidFill>
                <a:latin typeface="PingFang T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966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REST API 端點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418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418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B923C"/>
                </a:solidFill>
                <a:latin typeface="PingFang TC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418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前端分頁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870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870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C084FC"/>
                </a:solidFill>
                <a:latin typeface="PingFang TC"/>
              </a:rPr>
              <a:t>3 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870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混合風險評分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322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87171"/>
                </a:solidFill>
                <a:latin typeface="PingFang TC"/>
              </a:rPr>
              <a:t>8+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322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SSRF 阻擋規則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67747" y="1645920"/>
            <a:ext cx="1828800" cy="12801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7747" y="181051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ACC15"/>
                </a:solidFill>
                <a:latin typeface="PingFang TC"/>
              </a:rPr>
              <a:t>7K+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7747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釣魚 URL 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即時多來源爬蟲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94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PTT 5 板 + Google News RSS + 165 全民防騙網 + OpenPhish/PhishTank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7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7" y="3410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SQLite 持久化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3794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better-sqlite3 + WAL 模式,URL hash 去重,重啟不流失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1896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3410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Neo4j 知識圖譜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6" y="3794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MERGE + lastSeenAt 增量同步,Docker Compose 一鍵起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8006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965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混合風險評分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規則 + Embedding 餘弦相似 (×42) + LLM JSON 輸出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07407" y="48006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7" y="4965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SSRF 防護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7" y="5349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私有 IP / metadata / DNS rebinding + timeout/maxBytes/maxRedirects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1896" y="48006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6" y="4965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Markdown 對話助手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6216" y="5349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浮動圓形 ChatWidget,react-markdown 渲染,localStorage 歷史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系統架構與資料流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solid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│  React 19 + Vite 7 + Tailwind 4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│  Dashboard · Cases · Verify · Graph · Report  + 浮動 ChatWidget  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└──────────────────────────────┬──────────────────────────────────────┘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                          │  /api/* (Vite proxy → :8787)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                          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│  Express 5   server/index.ts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│  health · snapshot · feed · graph · crawl · analyze · verify-site 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│  · chat · report · reports · purge-noise                         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└────┬───────────────┬───────────────────────┬─────────────────────────┘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▼               ▼                       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scamEngine.ts    safeFetch.ts          threatIntel.ts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(orchestrator)   (SSRF guard)          (PhishTank/OpenPhish/GSB)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│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├──► SQLite (WAL)               ← posts / user reports / phish urls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  └──► Neo4j 5.26 (Docker)        ← MERGE + lastSeenAt 增量同步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外部來源 (任一失敗都 graceful fallback):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>   PTT(cheerio)  · Google News RSS · 165 CIB_DWS_API · OpenPhish · LLM/Embedding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38BDF8"/>
                </a:solidFill>
                <a:latin typeface="Menlo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03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技術棧總覽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2267" y="15544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2267" y="1554480"/>
            <a:ext cx="27889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1737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2D3EE"/>
                </a:solidFill>
                <a:latin typeface="PingFang TC"/>
              </a:rPr>
              <a:t>前端</a:t>
            </a:r>
          </a:p>
        </p:txBody>
      </p:sp>
      <p:sp>
        <p:nvSpPr>
          <p:cNvPr id="8" name="Oval 7"/>
          <p:cNvSpPr/>
          <p:nvPr/>
        </p:nvSpPr>
        <p:spPr>
          <a:xfrm>
            <a:off x="586587" y="24505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2331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React 19</a:t>
            </a:r>
          </a:p>
        </p:txBody>
      </p:sp>
      <p:sp>
        <p:nvSpPr>
          <p:cNvPr id="10" name="Oval 9"/>
          <p:cNvSpPr/>
          <p:nvPr/>
        </p:nvSpPr>
        <p:spPr>
          <a:xfrm>
            <a:off x="586587" y="29077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467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Vite 7</a:t>
            </a:r>
          </a:p>
        </p:txBody>
      </p:sp>
      <p:sp>
        <p:nvSpPr>
          <p:cNvPr id="12" name="Oval 11"/>
          <p:cNvSpPr/>
          <p:nvPr/>
        </p:nvSpPr>
        <p:spPr>
          <a:xfrm>
            <a:off x="586587" y="33649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46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TypeScript 5</a:t>
            </a:r>
          </a:p>
        </p:txBody>
      </p:sp>
      <p:sp>
        <p:nvSpPr>
          <p:cNvPr id="14" name="Oval 13"/>
          <p:cNvSpPr/>
          <p:nvPr/>
        </p:nvSpPr>
        <p:spPr>
          <a:xfrm>
            <a:off x="586587" y="38221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467" y="3703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Tailwind CSS 4</a:t>
            </a:r>
          </a:p>
        </p:txBody>
      </p:sp>
      <p:sp>
        <p:nvSpPr>
          <p:cNvPr id="16" name="Oval 15"/>
          <p:cNvSpPr/>
          <p:nvPr/>
        </p:nvSpPr>
        <p:spPr>
          <a:xfrm>
            <a:off x="586587" y="42793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467" y="4160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vis-network</a:t>
            </a:r>
          </a:p>
        </p:txBody>
      </p:sp>
      <p:sp>
        <p:nvSpPr>
          <p:cNvPr id="18" name="Oval 17"/>
          <p:cNvSpPr/>
          <p:nvPr/>
        </p:nvSpPr>
        <p:spPr>
          <a:xfrm>
            <a:off x="586587" y="47365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467" y="4617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react-router 7</a:t>
            </a:r>
          </a:p>
        </p:txBody>
      </p:sp>
      <p:sp>
        <p:nvSpPr>
          <p:cNvPr id="20" name="Oval 19"/>
          <p:cNvSpPr/>
          <p:nvPr/>
        </p:nvSpPr>
        <p:spPr>
          <a:xfrm>
            <a:off x="586587" y="51937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467" y="5074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react-markdown + remark-gfm</a:t>
            </a:r>
          </a:p>
        </p:txBody>
      </p:sp>
      <p:sp>
        <p:nvSpPr>
          <p:cNvPr id="22" name="Oval 21"/>
          <p:cNvSpPr/>
          <p:nvPr/>
        </p:nvSpPr>
        <p:spPr>
          <a:xfrm>
            <a:off x="586587" y="56509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467" y="5532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lucide-react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8347" y="15544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38347" y="1554480"/>
            <a:ext cx="27889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6947" y="1737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ADE80"/>
                </a:solidFill>
                <a:latin typeface="PingFang TC"/>
              </a:rPr>
              <a:t>後端</a:t>
            </a:r>
          </a:p>
        </p:txBody>
      </p:sp>
      <p:sp>
        <p:nvSpPr>
          <p:cNvPr id="27" name="Oval 26"/>
          <p:cNvSpPr/>
          <p:nvPr/>
        </p:nvSpPr>
        <p:spPr>
          <a:xfrm>
            <a:off x="3512667" y="24505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5547" y="2331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Node.js 20+</a:t>
            </a:r>
          </a:p>
        </p:txBody>
      </p:sp>
      <p:sp>
        <p:nvSpPr>
          <p:cNvPr id="29" name="Oval 28"/>
          <p:cNvSpPr/>
          <p:nvPr/>
        </p:nvSpPr>
        <p:spPr>
          <a:xfrm>
            <a:off x="3512667" y="29077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5547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Express 5</a:t>
            </a:r>
          </a:p>
        </p:txBody>
      </p:sp>
      <p:sp>
        <p:nvSpPr>
          <p:cNvPr id="31" name="Oval 30"/>
          <p:cNvSpPr/>
          <p:nvPr/>
        </p:nvSpPr>
        <p:spPr>
          <a:xfrm>
            <a:off x="3512667" y="33649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554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tsx (TS 直執行)</a:t>
            </a:r>
          </a:p>
        </p:txBody>
      </p:sp>
      <p:sp>
        <p:nvSpPr>
          <p:cNvPr id="33" name="Oval 32"/>
          <p:cNvSpPr/>
          <p:nvPr/>
        </p:nvSpPr>
        <p:spPr>
          <a:xfrm>
            <a:off x="3512667" y="38221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5547" y="3703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cors</a:t>
            </a:r>
          </a:p>
        </p:txBody>
      </p:sp>
      <p:sp>
        <p:nvSpPr>
          <p:cNvPr id="35" name="Oval 34"/>
          <p:cNvSpPr/>
          <p:nvPr/>
        </p:nvSpPr>
        <p:spPr>
          <a:xfrm>
            <a:off x="3512667" y="42793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5547" y="4160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dotenv</a:t>
            </a:r>
          </a:p>
        </p:txBody>
      </p:sp>
      <p:sp>
        <p:nvSpPr>
          <p:cNvPr id="37" name="Oval 36"/>
          <p:cNvSpPr/>
          <p:nvPr/>
        </p:nvSpPr>
        <p:spPr>
          <a:xfrm>
            <a:off x="3512667" y="47365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95547" y="4617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cheerio (HTML)</a:t>
            </a:r>
          </a:p>
        </p:txBody>
      </p:sp>
      <p:sp>
        <p:nvSpPr>
          <p:cNvPr id="39" name="Oval 38"/>
          <p:cNvSpPr/>
          <p:nvPr/>
        </p:nvSpPr>
        <p:spPr>
          <a:xfrm>
            <a:off x="3512667" y="51937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5547" y="5074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fast-xml-parser (RSS)</a:t>
            </a:r>
          </a:p>
        </p:txBody>
      </p:sp>
      <p:sp>
        <p:nvSpPr>
          <p:cNvPr id="41" name="Oval 40"/>
          <p:cNvSpPr/>
          <p:nvPr/>
        </p:nvSpPr>
        <p:spPr>
          <a:xfrm>
            <a:off x="3512667" y="565099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5547" y="5532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better-sqlite3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4427" y="15544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4427" y="1554480"/>
            <a:ext cx="27889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3027" y="1737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B923C"/>
                </a:solidFill>
                <a:latin typeface="PingFang TC"/>
              </a:rPr>
              <a:t>資料</a:t>
            </a:r>
          </a:p>
        </p:txBody>
      </p:sp>
      <p:sp>
        <p:nvSpPr>
          <p:cNvPr id="46" name="Oval 45"/>
          <p:cNvSpPr/>
          <p:nvPr/>
        </p:nvSpPr>
        <p:spPr>
          <a:xfrm>
            <a:off x="6438747" y="24505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1627" y="2331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SQLite (WAL)</a:t>
            </a:r>
          </a:p>
        </p:txBody>
      </p:sp>
      <p:sp>
        <p:nvSpPr>
          <p:cNvPr id="48" name="Oval 47"/>
          <p:cNvSpPr/>
          <p:nvPr/>
        </p:nvSpPr>
        <p:spPr>
          <a:xfrm>
            <a:off x="6438747" y="29077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1627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Neo4j 5.26 Community</a:t>
            </a:r>
          </a:p>
        </p:txBody>
      </p:sp>
      <p:sp>
        <p:nvSpPr>
          <p:cNvPr id="50" name="Oval 49"/>
          <p:cNvSpPr/>
          <p:nvPr/>
        </p:nvSpPr>
        <p:spPr>
          <a:xfrm>
            <a:off x="6438747" y="33649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162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Docker Compose</a:t>
            </a:r>
          </a:p>
        </p:txBody>
      </p:sp>
      <p:sp>
        <p:nvSpPr>
          <p:cNvPr id="52" name="Oval 51"/>
          <p:cNvSpPr/>
          <p:nvPr/>
        </p:nvSpPr>
        <p:spPr>
          <a:xfrm>
            <a:off x="6438747" y="38221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1627" y="3703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in-memory cache + ETag</a:t>
            </a:r>
          </a:p>
        </p:txBody>
      </p:sp>
      <p:sp>
        <p:nvSpPr>
          <p:cNvPr id="54" name="Oval 53"/>
          <p:cNvSpPr/>
          <p:nvPr/>
        </p:nvSpPr>
        <p:spPr>
          <a:xfrm>
            <a:off x="6438747" y="42793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1627" y="4160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URL hash 去重</a:t>
            </a:r>
          </a:p>
        </p:txBody>
      </p:sp>
      <p:sp>
        <p:nvSpPr>
          <p:cNvPr id="56" name="Oval 55"/>
          <p:cNvSpPr/>
          <p:nvPr/>
        </p:nvSpPr>
        <p:spPr>
          <a:xfrm>
            <a:off x="6438747" y="473659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1627" y="4617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lastSeenAt 增量同步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0507" y="155448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90507" y="1554480"/>
            <a:ext cx="278892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19107" y="1737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084FC"/>
                </a:solidFill>
                <a:latin typeface="PingFang TC"/>
              </a:rPr>
              <a:t>AI / 模型</a:t>
            </a:r>
          </a:p>
        </p:txBody>
      </p:sp>
      <p:sp>
        <p:nvSpPr>
          <p:cNvPr id="61" name="Oval 60"/>
          <p:cNvSpPr/>
          <p:nvPr/>
        </p:nvSpPr>
        <p:spPr>
          <a:xfrm>
            <a:off x="9364827" y="24505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47707" y="2331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Ollama qwen3.5:9b (NCU)</a:t>
            </a:r>
          </a:p>
        </p:txBody>
      </p:sp>
      <p:sp>
        <p:nvSpPr>
          <p:cNvPr id="63" name="Oval 62"/>
          <p:cNvSpPr/>
          <p:nvPr/>
        </p:nvSpPr>
        <p:spPr>
          <a:xfrm>
            <a:off x="9364827" y="29077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47707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multilingual-e5-large (embedding)</a:t>
            </a:r>
          </a:p>
        </p:txBody>
      </p:sp>
      <p:sp>
        <p:nvSpPr>
          <p:cNvPr id="65" name="Oval 64"/>
          <p:cNvSpPr/>
          <p:nvPr/>
        </p:nvSpPr>
        <p:spPr>
          <a:xfrm>
            <a:off x="9364827" y="33649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4770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OpenAI 相容 chat/completions</a:t>
            </a:r>
          </a:p>
        </p:txBody>
      </p:sp>
      <p:sp>
        <p:nvSpPr>
          <p:cNvPr id="67" name="Oval 66"/>
          <p:cNvSpPr/>
          <p:nvPr/>
        </p:nvSpPr>
        <p:spPr>
          <a:xfrm>
            <a:off x="9364827" y="38221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47707" y="3703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response_format: json_object</a:t>
            </a:r>
          </a:p>
        </p:txBody>
      </p:sp>
      <p:sp>
        <p:nvSpPr>
          <p:cNvPr id="69" name="Oval 68"/>
          <p:cNvSpPr/>
          <p:nvPr/>
        </p:nvSpPr>
        <p:spPr>
          <a:xfrm>
            <a:off x="9364827" y="42793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47707" y="4160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cosine similarity 評分</a:t>
            </a:r>
          </a:p>
        </p:txBody>
      </p:sp>
      <p:sp>
        <p:nvSpPr>
          <p:cNvPr id="71" name="Oval 70"/>
          <p:cNvSpPr/>
          <p:nvPr/>
        </p:nvSpPr>
        <p:spPr>
          <a:xfrm>
            <a:off x="9364827" y="473659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47707" y="46177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LLM JSON 強制輸出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04 · TEAM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四人實作分工 · 平均分配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2267" y="150876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6587" y="17830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2387" y="1783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資料蒐集層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2387" y="21488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Data Ingest</a:t>
            </a:r>
          </a:p>
        </p:txBody>
      </p:sp>
      <p:sp>
        <p:nvSpPr>
          <p:cNvPr id="9" name="Oval 8"/>
          <p:cNvSpPr/>
          <p:nvPr/>
        </p:nvSpPr>
        <p:spPr>
          <a:xfrm>
            <a:off x="586587" y="28163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26974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PTT 5 板爬蟲 (cheerio)</a:t>
            </a:r>
          </a:p>
        </p:txBody>
      </p:sp>
      <p:sp>
        <p:nvSpPr>
          <p:cNvPr id="11" name="Oval 10"/>
          <p:cNvSpPr/>
          <p:nvPr/>
        </p:nvSpPr>
        <p:spPr>
          <a:xfrm>
            <a:off x="586587" y="35021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467" y="33832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Google News RSS (fast-xml-parser)</a:t>
            </a:r>
          </a:p>
        </p:txBody>
      </p:sp>
      <p:sp>
        <p:nvSpPr>
          <p:cNvPr id="13" name="Oval 12"/>
          <p:cNvSpPr/>
          <p:nvPr/>
        </p:nvSpPr>
        <p:spPr>
          <a:xfrm>
            <a:off x="586587" y="41879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467" y="40690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165 全民防騙網 SPA 反向工程</a:t>
            </a:r>
          </a:p>
        </p:txBody>
      </p:sp>
      <p:sp>
        <p:nvSpPr>
          <p:cNvPr id="15" name="Oval 14"/>
          <p:cNvSpPr/>
          <p:nvPr/>
        </p:nvSpPr>
        <p:spPr>
          <a:xfrm>
            <a:off x="586587" y="48737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467" y="47548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內容過濾器 BLOCK/ALLOW 雙清單</a:t>
            </a:r>
          </a:p>
        </p:txBody>
      </p:sp>
      <p:sp>
        <p:nvSpPr>
          <p:cNvPr id="17" name="Oval 16"/>
          <p:cNvSpPr/>
          <p:nvPr/>
        </p:nvSpPr>
        <p:spPr>
          <a:xfrm>
            <a:off x="586587" y="55595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467" y="5440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使用者回報表單與後端寫入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8347" y="150876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12667" y="178308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8467" y="1783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持久化 &amp; 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8467" y="21488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Persistence &amp; Security</a:t>
            </a:r>
          </a:p>
        </p:txBody>
      </p:sp>
      <p:sp>
        <p:nvSpPr>
          <p:cNvPr id="23" name="Oval 22"/>
          <p:cNvSpPr/>
          <p:nvPr/>
        </p:nvSpPr>
        <p:spPr>
          <a:xfrm>
            <a:off x="3512667" y="28163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5547" y="26974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SQLite (better-sqlite3, WAL) 設計</a:t>
            </a:r>
          </a:p>
        </p:txBody>
      </p:sp>
      <p:sp>
        <p:nvSpPr>
          <p:cNvPr id="25" name="Oval 24"/>
          <p:cNvSpPr/>
          <p:nvPr/>
        </p:nvSpPr>
        <p:spPr>
          <a:xfrm>
            <a:off x="3512667" y="35021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5547" y="33832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Neo4j MERGE 增量同步 + retry backoff</a:t>
            </a:r>
          </a:p>
        </p:txBody>
      </p:sp>
      <p:sp>
        <p:nvSpPr>
          <p:cNvPr id="27" name="Oval 26"/>
          <p:cNvSpPr/>
          <p:nvPr/>
        </p:nvSpPr>
        <p:spPr>
          <a:xfrm>
            <a:off x="3512667" y="41879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5547" y="40690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Docker Compose + db-up 智慧腳本</a:t>
            </a:r>
          </a:p>
        </p:txBody>
      </p:sp>
      <p:sp>
        <p:nvSpPr>
          <p:cNvPr id="29" name="Oval 28"/>
          <p:cNvSpPr/>
          <p:nvPr/>
        </p:nvSpPr>
        <p:spPr>
          <a:xfrm>
            <a:off x="3512667" y="48737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5547" y="47548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SSRF 防護 safeFetch</a:t>
            </a:r>
          </a:p>
        </p:txBody>
      </p:sp>
      <p:sp>
        <p:nvSpPr>
          <p:cNvPr id="31" name="Oval 30"/>
          <p:cNvSpPr/>
          <p:nvPr/>
        </p:nvSpPr>
        <p:spPr>
          <a:xfrm>
            <a:off x="3512667" y="55595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5547" y="5440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威脅情資 PhishTank/OpenPhish/GSB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4427" y="150876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8747" y="178308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4547" y="1783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智慧分析層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4547" y="21488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Intelligence</a:t>
            </a:r>
          </a:p>
        </p:txBody>
      </p:sp>
      <p:sp>
        <p:nvSpPr>
          <p:cNvPr id="37" name="Oval 36"/>
          <p:cNvSpPr/>
          <p:nvPr/>
        </p:nvSpPr>
        <p:spPr>
          <a:xfrm>
            <a:off x="6438747" y="281635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1627" y="26974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scamEngine 評分公式設計</a:t>
            </a:r>
          </a:p>
        </p:txBody>
      </p:sp>
      <p:sp>
        <p:nvSpPr>
          <p:cNvPr id="39" name="Oval 38"/>
          <p:cNvSpPr/>
          <p:nvPr/>
        </p:nvSpPr>
        <p:spPr>
          <a:xfrm>
            <a:off x="6438747" y="350215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1627" y="33832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LLM OpenAI 相容 client (Bearer + Basic)</a:t>
            </a:r>
          </a:p>
        </p:txBody>
      </p:sp>
      <p:sp>
        <p:nvSpPr>
          <p:cNvPr id="41" name="Oval 40"/>
          <p:cNvSpPr/>
          <p:nvPr/>
        </p:nvSpPr>
        <p:spPr>
          <a:xfrm>
            <a:off x="6438747" y="418795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1627" y="40690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Embedding 語意檢索 + 快取</a:t>
            </a:r>
          </a:p>
        </p:txBody>
      </p:sp>
      <p:sp>
        <p:nvSpPr>
          <p:cNvPr id="43" name="Oval 42"/>
          <p:cNvSpPr/>
          <p:nvPr/>
        </p:nvSpPr>
        <p:spPr>
          <a:xfrm>
            <a:off x="6438747" y="487375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1627" y="47548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analyzeMessage / verifySiteUrl</a:t>
            </a:r>
          </a:p>
        </p:txBody>
      </p:sp>
      <p:sp>
        <p:nvSpPr>
          <p:cNvPr id="45" name="Oval 44"/>
          <p:cNvSpPr/>
          <p:nvPr/>
        </p:nvSpPr>
        <p:spPr>
          <a:xfrm>
            <a:off x="6438747" y="555955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1627" y="5440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buildKnowledgeGraph 投影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0507" y="150876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64827" y="1783080"/>
            <a:ext cx="548640" cy="5486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0627" y="1783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DF7"/>
                </a:solidFill>
                <a:latin typeface="PingFang TC"/>
              </a:rPr>
              <a:t>前端 &amp; 體驗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0627" y="21488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Frontend &amp; UX</a:t>
            </a:r>
          </a:p>
        </p:txBody>
      </p:sp>
      <p:sp>
        <p:nvSpPr>
          <p:cNvPr id="51" name="Oval 50"/>
          <p:cNvSpPr/>
          <p:nvPr/>
        </p:nvSpPr>
        <p:spPr>
          <a:xfrm>
            <a:off x="9364827" y="281635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47707" y="26974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React Router v7 五頁路由</a:t>
            </a:r>
          </a:p>
        </p:txBody>
      </p:sp>
      <p:sp>
        <p:nvSpPr>
          <p:cNvPr id="53" name="Oval 52"/>
          <p:cNvSpPr/>
          <p:nvPr/>
        </p:nvSpPr>
        <p:spPr>
          <a:xfrm>
            <a:off x="9364827" y="350215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47707" y="33832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vis-network KG (全螢幕 + 熱過濾)</a:t>
            </a:r>
          </a:p>
        </p:txBody>
      </p:sp>
      <p:sp>
        <p:nvSpPr>
          <p:cNvPr id="55" name="Oval 54"/>
          <p:cNvSpPr/>
          <p:nvPr/>
        </p:nvSpPr>
        <p:spPr>
          <a:xfrm>
            <a:off x="9364827" y="418795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47707" y="40690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ChatWidget 浮動圓形 + Markdown</a:t>
            </a:r>
          </a:p>
        </p:txBody>
      </p:sp>
      <p:sp>
        <p:nvSpPr>
          <p:cNvPr id="57" name="Oval 56"/>
          <p:cNvSpPr/>
          <p:nvPr/>
        </p:nvSpPr>
        <p:spPr>
          <a:xfrm>
            <a:off x="9364827" y="487375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47707" y="47548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SnapshotContext 三層快取</a:t>
            </a:r>
          </a:p>
        </p:txBody>
      </p:sp>
      <p:sp>
        <p:nvSpPr>
          <p:cNvPr id="59" name="Oval 58"/>
          <p:cNvSpPr/>
          <p:nvPr/>
        </p:nvSpPr>
        <p:spPr>
          <a:xfrm>
            <a:off x="9364827" y="5559552"/>
            <a:ext cx="91440" cy="91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47707" y="544068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API client + 各頁狀態管理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457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2D3EE"/>
                </a:solidFill>
                <a:latin typeface="PingFang TC"/>
              </a:rPr>
              <a:t>成員 A · DATA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資料蒐集層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本人負責的範圍 · 與其他成員的銜接點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負責範圍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把各種異質來源的詐騙線索抓回來,正規化成統一格式 DemoPost,並過濾掉政治新聞 / PSA 等噪聲。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關鍵挑戰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165 全民防騙網是 Angular SPA,純爬 HTML 抓不到;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新聞標題容易誤觸 (例:政治人物姓名含「詐騙」)。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交付產物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server/sources/ptt.ts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server/sources/googleNews.ts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server/sources/dashboard165.ts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server/lib/contentFilter.ts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本成員主要交付的檔案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MEMBER A · DETAIL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PTT 5 板爬蟲(cheerio)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板別:</a:t>
            </a:r>
            <a:r>
              <a:rPr sz="1200" b="0">
                <a:solidFill>
                  <a:srgbClr val="E6EDF7"/>
                </a:solidFill>
                <a:latin typeface="PingFang TC"/>
              </a:rPr>
              <a:t> Gossiping · e-shopping · part-time · Salary · MobilePay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PingFang TC"/>
              </a:rPr>
              <a:t>處理流程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① 帶 over18 cookie 抓 board index,cheerio 解析 .r-ent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② 用 regex 過濾標題:詐騙|被騙|騙錢|假網拍|釣魚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③ 進文章頁抓 #main-content innerText,移除推文/簽名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④ 進 postUtils.inferEntities 抽 entity (line/匯款/平台...)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⑤ inferScamType 推斷 scamType,組成 DemoPost 統一物件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337560" cy="4937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關鍵程式碼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063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const $ = cheerio.load(html);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$(".r-ent .title a").each((_, a) =&gt; {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  const title = $(a).text();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  if (!SCAM_RE.test(title)) return;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  const href = $(a).attr("href");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  candidates.push({ title, href });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});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// 個別抓內文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const post = await fetch(url, {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  headers: { Cookie: "over18=1"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>});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38BDF8"/>
                </a:solidFill>
                <a:latin typeface="Menlo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MEMBER A · DETAIL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Google News RSS + 165 SPA 反向工程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50292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Google News RSS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12 組詐騙關鍵字(投資詐騙、解除分期、假交友 ...)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每組 query 走 news.google.com/rss/search?q=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fast-xml-parser 解析 &lt;item&gt;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標題 + description 餵內容過濾器再決定要不要收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publishedAt = pubDate;url =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2578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165 全民防騙網(SPA 反向工程)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問題:165dashboard.tw 是 Angular SPA,純 HTML 沒列表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解法:逆向 JS bundle 找到真實 API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POST  CIB_DWS_API/api/CaseSummary/GetCaseSummaryList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Body: { PageIndex, NumberOfPerPage, SortOrderInfos }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Resp: 160,999 筆案例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踩雷:所有案例 url 都指向 /categorized-fraud,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    URL hash 去重會把全部折成 1 筆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修正:改用 /case-detail/{Id} 當作每筆獨立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MEMBER A · DETAIL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內容過濾器:BLOCK + ALLOW 雙清單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FB0C9"/>
                </a:solidFill>
                <a:latin typeface="PingFang TC"/>
              </a:rPr>
              <a:t>問題:Google News 抓回來的「詐騙」常常是政治新聞 / PSA 宣導 / 統計排行,汙染 KG 與 RAG evidence。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8600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87171"/>
                </a:solidFill>
                <a:latin typeface="PingFang TC"/>
              </a:rPr>
              <a:t>BLOCK_PATTERNS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/政黨|政治人物|選舉|候選人/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/防範宣導|宣導活動|防詐宣導/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/排行|統計|報告/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/演藝|綜藝|戲劇/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命中即丟棄 (BLOCK)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5257800" cy="36576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ALLOW_PATTERNS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/被騙|遭騙|誤信/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46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/損失金額|匯款|轉帳/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/接觸管道|LINE|Telegram/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/集團車手|車手|提款卡/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/165 專線|報案/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1208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命中強信號才放行 (ALLOW)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457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ADE80"/>
                </a:solidFill>
                <a:latin typeface="PingFang TC"/>
              </a:rPr>
              <a:t>成員 B · PERSISTENCE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持久化 &amp; 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本人負責的範圍 · 與其他成員的銜接點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DE80"/>
                </a:solidFill>
                <a:latin typeface="PingFang TC"/>
              </a:rPr>
              <a:t>負責範圍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SQLite + Neo4j 雙層持久化、Docker Compose 一鍵啟動、SSRF 防護以及威脅情資 feed 整合。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DE80"/>
                </a:solidFill>
                <a:latin typeface="PingFang TC"/>
              </a:rPr>
              <a:t>關鍵挑戰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Neo4j 原本每次 MATCH DETACH DELETE 全砍 → 改 MERGE 增量;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verify-site 直接 fetch 使用者 URL → SSRF 高風險。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DE80"/>
                </a:solidFill>
                <a:latin typeface="PingFang TC"/>
              </a:rPr>
              <a:t>交付產物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server/lib/db.ts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server/lib/neo4j.ts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server/lib/safeFetch.ts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server/lib/threatIntel.ts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docker-compose.yml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scripts/db-up.ts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本成員主要交付的檔案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PingFang TC"/>
              </a:rPr>
              <a:t>MEMBER B · DETAIL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SQLite 持久化(better-sqlite3, WAL)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DE80"/>
                </a:solidFill>
                <a:latin typeface="PingFang TC"/>
              </a:rPr>
              <a:t>Schema 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posts            ← id, source, board, title, content, url,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                 url_hash, title_hash, scam_type, entities,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                 published_at, created_at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user_reports     ← id, message, reporter_hint, suspected_url,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                 risk_level, risk_score, matched_keywords,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                 created_at, status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phish_urls       ← url, source, fetched_at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source_status    ← source, last_run_at, ok, error_msg,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3337560" cy="4937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PingFang TC"/>
              </a:rPr>
              <a:t>關鍵設計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0632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✓ WAL 模式 (PRAGMA journal_mode=WAL)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✓ URL hash + title hash 雙重去重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✓ upsertPost 採 INSERT OR REPLACE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✓ 檔案位置 data/scam-intel.db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  (.gitignore 排除)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✓ 重啟後完整保留 16+ 案例與</a:t>
            </a:r>
          </a:p>
          <a:p>
            <a:pPr algn="l">
              <a:lnSpc>
                <a:spcPct val="160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   使用者回報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PingFang TC"/>
              </a:rPr>
              <a:t>MEMBER B · DETAIL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Neo4j MERGE 增量同步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87171"/>
                </a:solidFill>
                <a:latin typeface="PingFang TC"/>
              </a:rPr>
              <a:t>舊版策略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663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MATCH (n) DETACH DELETE n  -- 全砍重建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問題: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資料一多就很慢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破壞手動加在 Neo4j 上的關係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• 連線一失敗就永久禁用,要重啟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新版策略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MERGE (p:Post {id: $id})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SET p.lastSeenAt = $now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MERGE (p)-[r:MENTIONS]-&gt;(e:Entity)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清理: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WHERE p.lastSeenAt &lt; $cutoff (7d)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DETACH DELETE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31920"/>
            <a:ext cx="10469880" cy="24688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其他可靠性設計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✓ connectionTimeout=2000ms,避免本機沒 Neo4j 第一次卡 30s</a:t>
            </a:r>
          </a:p>
          <a:p>
            <a:pPr algn="l">
              <a:lnSpc>
                <a:spcPct val="18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✓ probeNeo4jOnStartup() — 啟動階段就吃掉連線成本,首次 /api/graph &lt; 200ms</a:t>
            </a:r>
          </a:p>
          <a:p>
            <a:pPr algn="l">
              <a:lnSpc>
                <a:spcPct val="18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✓ 失敗 60 秒指數退避重試,而非永久禁用</a:t>
            </a:r>
          </a:p>
          <a:p>
            <a:pPr algn="l">
              <a:lnSpc>
                <a:spcPct val="18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✓ STALE_HOURS = 7 天清理舊節點</a:t>
            </a:r>
          </a:p>
          <a:p>
            <a:pPr algn="l">
              <a:lnSpc>
                <a:spcPct val="18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✓ Docker Compose + healthcheck + db-up.ts 智慧啟動(熱啟動 1.3s)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ADE80"/>
                </a:solidFill>
                <a:latin typeface="PingFang TC"/>
              </a:rPr>
              <a:t>MEMBER B · DETAIL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SSRF 多層防護(safeFetch)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FB0C9"/>
                </a:solidFill>
                <a:latin typeface="PingFang TC"/>
              </a:rPr>
              <a:t>問題:verify-site 直接 fetch 使用者輸入 URL → 可被當跳板探測內網 / metadata 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8600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68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阻擋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260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127.0.0.1 ::1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10.0.0.0/8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172.16.0.0/12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192.168.0.0/16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169.254.0.0/16 (link-local)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100.64.0.0/10 (CGNAT)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fc00::/7 (ULA IPv6)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fe80::/10 (IPv6 link-local)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28600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阻擋 Hostname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260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localhost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metadata.google.internal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*.local / *.internal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+ DNS rebinding 防護: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resolve 後再次驗證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IP 不在白名單範圍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468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DE80"/>
                </a:solidFill>
                <a:latin typeface="PingFang TC"/>
              </a:rPr>
              <a:t>流量限制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9260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timeout: 5s (預設)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maxBytes: 256KB (truncate)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maxRedirects: 3 (拋錯)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Accept: text/html only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✓ 三道閘任一觸發即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ssrfBlocked=true 回報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457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B923C"/>
                </a:solidFill>
                <a:latin typeface="PingFang TC"/>
              </a:rPr>
              <a:t>成員 C ·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智慧分析層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本人負責的範圍 · 與其他成員的銜接點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負責範圍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把抓回來的案例變成「對話風險評分 + 警示」。整合規則、Embedding、LLM 三層,任一層失效都能 fallback。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關鍵挑戰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規則太死、純 LLM 太昂貴又會幻覺。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用混合式評分:Embedding 餵相似案例,LLM 只負責文字解釋。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交付產物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server/lib/scamEngine.ts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server/lib/llm.ts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server/lib/postUtils.ts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buildKnowledgeGraph()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本成員主要交付的檔案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923C"/>
                </a:solidFill>
                <a:latin typeface="PingFang TC"/>
              </a:rPr>
              <a:t>MEMBER C · DETAIL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混合風險評分公式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10469880" cy="21945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B923C"/>
                </a:solidFill>
                <a:latin typeface="PingFang TC"/>
              </a:rPr>
              <a:t>總分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score = min(96,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  10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  + matchedKeywords.length * 8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  + matchedEntities.length * 10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  + scoredEvidence.length * 14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Menlo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794760"/>
            <a:ext cx="10469880" cy="260604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B923C"/>
                </a:solidFill>
                <a:latin typeface="PingFang TC"/>
              </a:rPr>
              <a:t>單篇 evidence 分數(三層加權)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evidenceScore =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  overlapEntities  * 24      ← 規則命中的實體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  + keywordHits    * 14      ← 關鍵字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  + cosineSimilarity * 42    ← Embedding (僅當設定時)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level:  score &gt;= 70 → high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        score &gt;= 40 → medium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8BDF8"/>
                </a:solidFill>
                <a:latin typeface="Menlo"/>
              </a:rPr>
              <a:t>        otherwise   →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923C"/>
                </a:solidFill>
                <a:latin typeface="PingFang TC"/>
              </a:rPr>
              <a:t>MEMBER C · DETAIL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LLM 整合(OpenAI 相容 client)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50876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彈性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支援任何 OpenAI 相容 /v1/chat/completions: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Ollama (本地)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vLLM (NCU GPU)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OpenAI / Azure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自架 LLM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雙模式驗證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4884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buildApiRequest 自動判別: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Bearer token (Authorization header)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URL 內嵌 Basic auth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https://user:pass@host/v1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77639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160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強制 JSON 輸出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17719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response_format: json_object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schema: { summary, actions[] }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失敗自動 fallback 到 buildAlert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(deterministic 規則模板)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77639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160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Chat 走 Markdown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617719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/api/chat 的 system prompt 強制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輸出 Markdown:標題、條列、表格、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粗體、code、警告符號。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前端 react-markdown 渲染。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923C"/>
                </a:solidFill>
                <a:latin typeface="PingFang TC"/>
              </a:rPr>
              <a:t>MEMBER C · DETAIL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Embedding 檢索 + 知識圖譜投影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50292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Embedding 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1. crawlLiveSources 結束後,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為每篇新 post 預先計算 embedding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2. 結果寫入 embeddingCache(per-post id)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3. analyzeMessage 時: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• 對 user message 取 embedding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• 與所有 cached embedding 算 cosine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• 依分數排序取 top-N 當 evidence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4. 採 OpenAI 相容 /v1/embeddings: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multilingual-e5-large (1024 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2578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KG 投影邏輯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buildKnowledgeGraph(posts, maxNodes)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節點: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post:{id}  ← 案例,group='post'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{type}:{value}  ← 實體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  line/匯款/平台/帳戶/keyword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邊: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(post) -[:MENTIONS]-&gt; (entity)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權重: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post.weight = entities.length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entity.weight = 出現次數總和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  最後依 weight 取 top-N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457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84FC"/>
                </a:solidFill>
                <a:latin typeface="PingFang TC"/>
              </a:rPr>
              <a:t>成員 D · FRONTEND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前端 &amp; 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本人負責的範圍 · 與其他成員的銜接點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負責範圍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React 19 + Vite 7 全端體驗。從 5 個獨立路由頁、KG 視覺化、浮動聊天到三層 cache。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關鍵挑戰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原版單頁 App.tsx 已 692 行;KG 第一次載入 6.7s;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節點點擊後 label 看不清楚;chip 過濾要可熱載。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2860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交付產物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3063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src/pages/* (5 頁)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src/components/KnowledgeGraphPanel.tsx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src/components/ChatWidget.tsx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src/context/SnapshotContext.tsx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src/api/client.ts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src/components/Markdown.tsx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FB0C9"/>
                </a:solidFill>
                <a:latin typeface="PingFang TC"/>
              </a:rPr>
              <a:t>本成員主要交付的檔案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84FC"/>
                </a:solidFill>
                <a:latin typeface="PingFang TC"/>
              </a:rPr>
              <a:t>MEMBER D · DETAIL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React Router v7:5 頁拆分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Menlo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00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6EDF7"/>
                </a:solidFill>
                <a:latin typeface="PingFang TC"/>
              </a:rPr>
              <a:t>Dashboard 主儀表板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多來源狀態 + scamType 摘要 + 對話分析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3774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Menlo"/>
              </a:rPr>
              <a:t>/cases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6EDF7"/>
                </a:solidFill>
                <a:latin typeface="PingFang TC"/>
              </a:rPr>
              <a:t>案例列表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分頁 12 筆/頁 + 來源 chip 過濾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2918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474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Menlo"/>
              </a:rPr>
              <a:t>/verify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9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6EDF7"/>
                </a:solidFill>
                <a:latin typeface="PingFang TC"/>
              </a:rPr>
              <a:t>網站驗證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6 個 signal chip,SSRF 阻擋會顯示原因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2062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389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Menlo"/>
              </a:rPr>
              <a:t>/graph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6EDF7"/>
                </a:solidFill>
                <a:latin typeface="PingFang TC"/>
              </a:rPr>
              <a:t>知識圖譜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63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vis-network + 全螢幕 + 熱過濾 + 跳轉來源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51206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303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Menlo"/>
              </a:rPr>
              <a:t>/report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57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6EDF7"/>
                </a:solidFill>
                <a:latin typeface="PingFang TC"/>
              </a:rPr>
              <a:t>使用者回報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77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送出即時分析 + 列出近期 20 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84FC"/>
                </a:solidFill>
                <a:latin typeface="PingFang TC"/>
              </a:rPr>
              <a:t>MEMBER D · DETAIL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KG 視覺化:vis-network + 熱過濾 + 全螢幕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PingFang TC"/>
              </a:rPr>
              <a:t>vis-network DataSet 熱過濾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類別 chip 切換時:DataSet.update + hidden flag + physics 重啟 700ms,無需刷新頁面;新增分類後節點立即顯示。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69748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PingFang TC"/>
              </a:rPr>
              <a:t>全螢幕真填滿視窗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0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fullscreen=true 時改 fixed inset-0 flex 縱向:工具列在上、KG 100% 填滿;側邊詳情變右側滑出抽屜,點節點自動展開,Esc 離開。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3192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PingFang TC"/>
              </a:rPr>
              <a:t>案例節點一鍵跳轉來源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34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GraphNode 新增 url/source/scamType/publishedAt 欄位;NodeDetails 在 post 節點顯示來源/類型/時間 + 「前往原始來源」藍色按鈕(target=_blank)。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16636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84FC"/>
                </a:solidFill>
                <a:latin typeface="PingFang TC"/>
              </a:rPr>
              <a:t>節點配色與形狀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6692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shape:dot,label 在外;post 直徑 18-34,entity 8-20。Stroke 3px 描邊讓深底也能讀標題。Type breakdown 用 group 計算才對。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502920" cy="50292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A1426"/>
                </a:solidFill>
                <a:latin typeface="PingFang TC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84FC"/>
                </a:solidFill>
                <a:latin typeface="PingFang TC"/>
              </a:rPr>
              <a:t>MEMBER D · DETAIL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E6EDF7"/>
                </a:solidFill>
                <a:latin typeface="PingFang TC"/>
              </a:rPr>
              <a:t>ChatWidget + 三層快取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457200" cy="380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463040"/>
            <a:ext cx="50292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浮動 ChatWidget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右下角圓形按鈕(漸層 cyan→sky)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點擊開合,展開 380×560 對話窗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Enter 送出 / Shift+Enter 換行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對話歷史寫入 localStorage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key: scam-intel-chat-history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助理回覆走 react-markdown + remark-gfm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支援 粗體 / code / 表格 / 條列 / 連結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• LLM vs 規則模式 header 提示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2578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三層 KG 快取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① 後端 in-memory cache (per limit)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 TTL 30s,etag = nodes+edges+posts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② HTTP ETag + Cache-Control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 304 命中時不重算 graph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③ 前端 SnapshotProvider prefetch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 /api/snapshot 後立刻背景抓 graph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    GraphPage useState 初值即用 cache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效果:首次 /graph 6.7s → &lt; 200ms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05 · API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後端 REST 介面 (10 endpoints)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813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用途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933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健檢 + 子系統狀態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9152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323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50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多來源狀態 + DB stats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98064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87121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895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8950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分頁案例清單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36976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3101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32841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284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KG 節點與邊 (ETag)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75888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7490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767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/api/crawl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6732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觸發即時同步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114800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1879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206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2062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對話風險分析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553712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462686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6451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/api/verify-site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64515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網址啟發式 + SSRF 防護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92624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50657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0840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08406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ChatWidget 後端 (Markdown)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431536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" y="55046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52297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52297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使用者回報 + 自動分析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870448"/>
            <a:ext cx="11155680" cy="41148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77240" y="59436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A1426"/>
                </a:solidFill>
                <a:latin typeface="PingFang TC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9618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Menlo"/>
              </a:rPr>
              <a:t>/api/reports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96188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0C9"/>
                </a:solidFill>
                <a:latin typeface="PingFang TC"/>
              </a:rPr>
              <a:t>近期使用者回報清單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06 ·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驗證與測試結果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測試項目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48132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9FB0C9"/>
                </a:solidFill>
                <a:latin typeface="PingFang TC"/>
              </a:rPr>
              <a:t>備註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前端 TS 型別檢查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984248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84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tsc --noEmit -p tsconfig.app.json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0428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6829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後端 TS 型別檢查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368296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682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tsc --noEmit -p tsconfig.server.json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88336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52344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Production 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2752344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7523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1946 modules · 1.1MB JS · 38KB CSS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72384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36392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/api/analyze 假投資訊息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136392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1363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score=96 · level=high · 5 keywords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56432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204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/api/verify-site .xyz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3520440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520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verdict=danger · score=84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40480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0448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SSRF 阻擋 127.0.0.1 / 169.254.169.254 / localhost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3904488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9044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ssrfBlocked=true · 三種情境皆擋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2452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8853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SQLite 重啟資料保留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288536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2885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16 posts + 1 report 完整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608576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672584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Neo4j MERGE 增量同步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4672584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67258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移除全砍 + 7 天 stale 清理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992624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056632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LLM Markdown 輸出渲染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66560" y="5056632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50566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標題/條列/表格/連結 完整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376672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4406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KG 熱載過濾(無刷新)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0" y="5440680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440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chip 切換即時 + 700ms 重排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760720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8247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165 案例去重(URL hash)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0" y="5824728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824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改 case-detail/{Id} 避免折疊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614476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620877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6EDF7"/>
                </a:solidFill>
                <a:latin typeface="PingFang TC"/>
              </a:rPr>
              <a:t>政治 / PSA 噪聲過濾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0" y="6208776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A1426"/>
                </a:solidFill>
                <a:latin typeface="PingFang TC"/>
              </a:rP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62087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C9"/>
                </a:solidFill>
                <a:latin typeface="PingFang TC"/>
              </a:rPr>
              <a:t>BLOCK/ALLOW 去除 ~20+ 噪聲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07 · DEMO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現場展示 + 未來工作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Demo 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1. npm run dev:full (Docker + 前後端一鍵啟動)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2. /  Dashboard:看 4 個來源同步狀態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3. /cases:分頁瀏覽,確認多來源混合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4. /graph:全螢幕 → 點 post 節點 → 按「前往原始來源」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5. /verify:輸入 127.0.0.1 驗 SSRF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6. /report:送 LINE 投資詐騙訊息 → 自動分析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7. 右下浮動 ChatWidget:自然語言對話 → LLM Markdown 回覆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未來工作(Roadmap)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4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671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vitest 單元測試覆蓋 analyzeMessage / safeFetch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700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規則 / 關鍵字外部化為 JSON 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1729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結構化 logging (pino) + latency 觀測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6758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node-cron 定時增量爬,而非僅啟動時跑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6052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788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Bundle 拆分 (vis-network / markdown lazy)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6817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Anthropic prompt caching 降 LLM 成本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1663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184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使用者回報 moderation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66928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1426"/>
                </a:solidFill>
                <a:latin typeface="PingFang TC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6875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6EDF7"/>
                </a:solidFill>
                <a:latin typeface="PingFang TC"/>
              </a:rPr>
              <a:t>Grafana + Prometheus 觀測儀表板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D3EE"/>
                </a:solidFill>
                <a:latin typeface="PingFang TC"/>
              </a:rPr>
              <a:t>08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6EDF7"/>
                </a:solidFill>
                <a:latin typeface="PingFang TC"/>
              </a:rPr>
              <a:t>參考資料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8640" cy="3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PingFang TC"/>
              </a:rPr>
              <a:t>資料來源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165 全民防騙網 — https://165dashboard.tw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PTT Web 介面 — https://www.ptt.cc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Google News RSS — news.google.com/rss/search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OpenPhish 公開 feed — https://openphish.com/feed.txt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PhishTank — https://phishtank.org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Google Safe Browsing v4 — developers.google.com/safe-browsing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ADE80"/>
                </a:solidFill>
                <a:latin typeface="PingFang TC"/>
              </a:rPr>
              <a:t>套件 / 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React 19 — react.dev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Vite 7 — vitejs.dev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Express 5 — expressjs.com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Neo4j Driver — neo4j.com/docs/javascript-manual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vis-network — visjs.github.io/vis-network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better-sqlite3 — github.com/WiseLibs/better-sqlite3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cheerio — cheerio.js.org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react-markdown / remark-gfm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923C"/>
                </a:solidFill>
                <a:latin typeface="PingFang TC"/>
              </a:rPr>
              <a:t>模型 /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Ollama — ollama.com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qwen3.5:9b (對話 + JSON 模式)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multilingual-e5-large — huggingface.co/intfloat/multilingual-e5-large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OpenAI Chat Completions 規格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9525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84FC"/>
                </a:solidFill>
                <a:latin typeface="PingFang TC"/>
              </a:rPr>
              <a:t>學術 / 文獻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Reimers &amp; Gurevych (2019) Sentence-BERT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Wang et al. (2024) Multilingual E5 Text Embeddings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OWASP Top 10 — SSRF (A10:2021)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OWASP API Security Top 10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MITRE ATT&amp;CK — Phishing (T1566)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E6EDF7"/>
                </a:solidFill>
                <a:latin typeface="PingFang TC"/>
              </a:rPr>
              <a:t>• 刑事警察局 165 反詐騙年度報告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Scam Intel Console · 防詐情資控制台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6B7E9B"/>
                </a:solidFill>
                <a:latin typeface="PingFang TC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E6EDF7"/>
                </a:solidFill>
                <a:latin typeface="PingFang TC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22D3EE"/>
                </a:solidFill>
                <a:latin typeface="PingFang TC"/>
              </a:rPr>
              <a:t>謝謝聆聽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E9B"/>
                </a:solidFill>
                <a:latin typeface="PingFang TC"/>
              </a:rPr>
              <a:t>github.com/jason79461385/Crawler_KG_ANTI_FAKE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